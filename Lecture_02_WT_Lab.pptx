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6" r:id="rId4"/>
    <p:sldId id="319" r:id="rId5"/>
    <p:sldId id="320" r:id="rId6"/>
    <p:sldId id="322" r:id="rId7"/>
    <p:sldId id="323" r:id="rId8"/>
    <p:sldId id="324" r:id="rId9"/>
    <p:sldId id="325" r:id="rId10"/>
    <p:sldId id="330" r:id="rId11"/>
    <p:sldId id="331" r:id="rId12"/>
    <p:sldId id="334" r:id="rId13"/>
    <p:sldId id="265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111" d="100"/>
          <a:sy n="111" d="100"/>
        </p:scale>
        <p:origin x="15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5A15E-1A99-40A5-A89D-4D03C7726ECB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B4E94-A4BF-4054-BFBC-37471E04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19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xmlns="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xmlns="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" TargetMode="External"/><Relationship Id="rId2" Type="http://schemas.openxmlformats.org/officeDocument/2006/relationships/hyperlink" Target="http://www.mysql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www.php.net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CSS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46368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xmlns="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xmlns="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xmlns="" val="3023211198"/>
                    </a:ext>
                  </a:extLst>
                </a:gridCol>
                <a:gridCol w="926974">
                  <a:extLst>
                    <a:ext uri="{9D8B030D-6E8A-4147-A177-3AD203B41FA5}">
                      <a16:colId xmlns:a16="http://schemas.microsoft.com/office/drawing/2014/main" xmlns="" val="1762131981"/>
                    </a:ext>
                  </a:extLst>
                </a:gridCol>
                <a:gridCol w="1187866">
                  <a:extLst>
                    <a:ext uri="{9D8B030D-6E8A-4147-A177-3AD203B41FA5}">
                      <a16:colId xmlns:a16="http://schemas.microsoft.com/office/drawing/2014/main" xmlns="" val="445458238"/>
                    </a:ext>
                  </a:extLst>
                </a:gridCol>
                <a:gridCol w="2112100">
                  <a:extLst>
                    <a:ext uri="{9D8B030D-6E8A-4147-A177-3AD203B41FA5}">
                      <a16:colId xmlns:a16="http://schemas.microsoft.com/office/drawing/2014/main" xmlns="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Summer 19-20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smtClean="0"/>
                        <a:t>Rashidul Hasan Nabil &lt;rashidul@aiub.edu&gt;</a:t>
                      </a:r>
                      <a:endParaRPr lang="en-US" i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CSS Border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CSS Margin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CSS Padding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CSS Height Width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Borders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C26D19-85DA-834B-9600-C9820C508897}"/>
              </a:ext>
            </a:extLst>
          </p:cNvPr>
          <p:cNvSpPr txBox="1"/>
          <p:nvPr/>
        </p:nvSpPr>
        <p:spPr>
          <a:xfrm>
            <a:off x="164339" y="2009116"/>
            <a:ext cx="861390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CSS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border</a:t>
            </a:r>
            <a:r>
              <a:rPr lang="en-US" sz="2800" dirty="0"/>
              <a:t> properties allow you to specify the style, width, and color of an element's border.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border-style</a:t>
            </a:r>
            <a:r>
              <a:rPr lang="en-US" sz="2800" dirty="0"/>
              <a:t> property specifies what kind of border to display.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border-width</a:t>
            </a:r>
            <a:r>
              <a:rPr lang="en-US" sz="2800" dirty="0"/>
              <a:t> property specifies the width of the four borders.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border-color</a:t>
            </a:r>
            <a:r>
              <a:rPr lang="en-US" sz="2800" dirty="0"/>
              <a:t> property is used to set the color of the four borders.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430721" y="975972"/>
            <a:ext cx="88921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p.one {</a:t>
            </a:r>
          </a:p>
          <a:p>
            <a:r>
              <a:rPr lang="en-US" sz="1600" dirty="0"/>
              <a:t>  border-style: solid;</a:t>
            </a:r>
          </a:p>
          <a:p>
            <a:r>
              <a:rPr lang="en-US" sz="1600" dirty="0"/>
              <a:t>  border-color: red;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 err="1"/>
              <a:t>p.two</a:t>
            </a:r>
            <a:r>
              <a:rPr lang="en-US" sz="1600" dirty="0"/>
              <a:t> {</a:t>
            </a:r>
          </a:p>
          <a:p>
            <a:r>
              <a:rPr lang="en-US" sz="1600" dirty="0"/>
              <a:t>  border-style: solid;</a:t>
            </a:r>
          </a:p>
          <a:p>
            <a:r>
              <a:rPr lang="en-US" sz="1600" dirty="0"/>
              <a:t>  border-color: green;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 err="1"/>
              <a:t>p.three</a:t>
            </a:r>
            <a:r>
              <a:rPr lang="en-US" sz="1600" dirty="0"/>
              <a:t> {</a:t>
            </a:r>
          </a:p>
          <a:p>
            <a:r>
              <a:rPr lang="en-US" sz="1600" dirty="0"/>
              <a:t>  border-style: dotted;</a:t>
            </a:r>
          </a:p>
          <a:p>
            <a:r>
              <a:rPr lang="en-US" sz="1600" dirty="0"/>
              <a:t>  border-color: blue;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D45DDD7-120A-4B96-BB66-B26C3FBFDC87}"/>
              </a:ext>
            </a:extLst>
          </p:cNvPr>
          <p:cNvSpPr txBox="1"/>
          <p:nvPr/>
        </p:nvSpPr>
        <p:spPr>
          <a:xfrm flipH="1">
            <a:off x="4239649" y="4330736"/>
            <a:ext cx="230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777F6D9-3739-4B20-9C49-2B62A1256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896274"/>
            <a:ext cx="853440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342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Explanation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125921" y="1229191"/>
            <a:ext cx="88921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is also possible to specify all the individual border properties in one property.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border property is a shorthand property for the following individual border properties: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border-width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border-style (required)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border-color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01FAB03-3366-489F-AF0A-808426774ACE}"/>
              </a:ext>
            </a:extLst>
          </p:cNvPr>
          <p:cNvSpPr/>
          <p:nvPr/>
        </p:nvSpPr>
        <p:spPr>
          <a:xfrm>
            <a:off x="0" y="3912715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border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 5px solid 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EA8C045-6963-4FDD-B54B-B6ADC49CF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156" y="4922238"/>
            <a:ext cx="5584873" cy="3816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F6A47B0-8A6A-4DB4-9AD0-D1EAAD4EAA7F}"/>
              </a:ext>
            </a:extLst>
          </p:cNvPr>
          <p:cNvSpPr/>
          <p:nvPr/>
        </p:nvSpPr>
        <p:spPr>
          <a:xfrm>
            <a:off x="0" y="5159985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Left Border</a:t>
            </a:r>
          </a:p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border-left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 6px solid 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 background-color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lightgrey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02ABBAF-D113-4A7F-AC66-9E81A230E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965" y="5993606"/>
            <a:ext cx="5128113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130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Margins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68710762-839A-41F8-84A0-2FFA7B32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41" y="2164117"/>
            <a:ext cx="8386441" cy="424731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dirty="0"/>
              <a:t>The CSS </a:t>
            </a:r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margin</a:t>
            </a:r>
            <a:r>
              <a:rPr lang="en-US" altLang="en-US" dirty="0"/>
              <a:t> properties are used to create space around elements, outside of any defined borders.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dirty="0"/>
              <a:t>There are properties for setting the margin for each side of an element (top, right, bottom, and left).</a:t>
            </a:r>
            <a:endParaRPr lang="en-US" altLang="en-US" dirty="0">
              <a:solidFill>
                <a:schemeClr val="bg2">
                  <a:lumMod val="50000"/>
                </a:schemeClr>
              </a:solidFill>
            </a:endParaRP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margin-top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margin-right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margin-bottom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margin-left</a:t>
            </a:r>
          </a:p>
          <a:p>
            <a:pPr lvl="0"/>
            <a:endParaRPr lang="en-US" altLang="en-US" dirty="0">
              <a:solidFill>
                <a:schemeClr val="bg2">
                  <a:lumMod val="50000"/>
                </a:schemeClr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dirty="0"/>
              <a:t>All the margin properties can have the following values: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auto</a:t>
            </a:r>
            <a:r>
              <a:rPr lang="en-US" altLang="en-US" dirty="0"/>
              <a:t> - the browser calculates the margin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length</a:t>
            </a:r>
            <a:r>
              <a:rPr lang="en-US" altLang="en-US" dirty="0"/>
              <a:t> - specifies a margin in px, </a:t>
            </a:r>
            <a:r>
              <a:rPr lang="en-US" altLang="en-US" dirty="0" err="1"/>
              <a:t>pt</a:t>
            </a:r>
            <a:r>
              <a:rPr lang="en-US" altLang="en-US" dirty="0"/>
              <a:t>, cm, etc.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%</a:t>
            </a:r>
            <a:r>
              <a:rPr lang="en-US" altLang="en-US" dirty="0"/>
              <a:t> - specifies a margin in % of the width of the containing element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inherit</a:t>
            </a:r>
            <a:r>
              <a:rPr lang="en-US" altLang="en-US" dirty="0"/>
              <a:t> - specifies that the margin should be inherited from the parent element</a:t>
            </a:r>
          </a:p>
        </p:txBody>
      </p:sp>
    </p:spTree>
    <p:extLst>
      <p:ext uri="{BB962C8B-B14F-4D97-AF65-F5344CB8AC3E}">
        <p14:creationId xmlns:p14="http://schemas.microsoft.com/office/powerpoint/2010/main" val="172056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2" y="595100"/>
            <a:ext cx="321669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251843" y="1148925"/>
            <a:ext cx="88921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div {</a:t>
            </a:r>
          </a:p>
          <a:p>
            <a:r>
              <a:rPr lang="en-US" dirty="0"/>
              <a:t>  border: 1px solid black;</a:t>
            </a:r>
          </a:p>
          <a:p>
            <a:r>
              <a:rPr lang="en-US" dirty="0"/>
              <a:t>  margin-top: 50px;</a:t>
            </a:r>
          </a:p>
          <a:p>
            <a:r>
              <a:rPr lang="en-US" dirty="0"/>
              <a:t>  margin-bottom: 100px;</a:t>
            </a:r>
          </a:p>
          <a:p>
            <a:r>
              <a:rPr lang="en-US" dirty="0"/>
              <a:t>  margin-right: 150px;</a:t>
            </a:r>
          </a:p>
          <a:p>
            <a:r>
              <a:rPr lang="en-US" dirty="0"/>
              <a:t>  margin-left: 80px;</a:t>
            </a:r>
          </a:p>
          <a:p>
            <a:r>
              <a:rPr lang="en-US" dirty="0"/>
              <a:t>  background-color: </a:t>
            </a:r>
            <a:r>
              <a:rPr lang="en-US" dirty="0" err="1"/>
              <a:t>lightblue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  <a:endParaRPr lang="en-US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E274CEF6-28C4-483B-B8C1-C00739944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7" y="4134047"/>
            <a:ext cx="5381625" cy="157162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04DEAE4A-E4F0-4F3C-8A45-7D92B24EB566}"/>
              </a:ext>
            </a:extLst>
          </p:cNvPr>
          <p:cNvCxnSpPr/>
          <p:nvPr/>
        </p:nvCxnSpPr>
        <p:spPr>
          <a:xfrm>
            <a:off x="3568390" y="4417255"/>
            <a:ext cx="0" cy="5064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FCC1E142-27B6-4EEA-B1E2-D8FAADE58ACA}"/>
              </a:ext>
            </a:extLst>
          </p:cNvPr>
          <p:cNvCxnSpPr/>
          <p:nvPr/>
        </p:nvCxnSpPr>
        <p:spPr>
          <a:xfrm>
            <a:off x="1012874" y="5134708"/>
            <a:ext cx="7174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408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Padding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C43117AC-150D-4849-8A6F-2355248F2EF9}"/>
              </a:ext>
            </a:extLst>
          </p:cNvPr>
          <p:cNvSpPr/>
          <p:nvPr/>
        </p:nvSpPr>
        <p:spPr>
          <a:xfrm>
            <a:off x="313006" y="2017059"/>
            <a:ext cx="851798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padding properties are used to generate space around an element's content. </a:t>
            </a:r>
          </a:p>
          <a:p>
            <a:r>
              <a:rPr lang="en-US" sz="2000" dirty="0"/>
              <a:t>setting the padding for each side of an element (top, right, bottom, and left).</a:t>
            </a:r>
          </a:p>
          <a:p>
            <a:r>
              <a:rPr lang="en-US" sz="2000" dirty="0"/>
              <a:t>CSS has properties for specifying the padding for each side of an element: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padding-top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padding-right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padding-bottom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padding-left</a:t>
            </a:r>
          </a:p>
          <a:p>
            <a:endParaRPr lang="en-US" sz="2000" dirty="0"/>
          </a:p>
          <a:p>
            <a:r>
              <a:rPr lang="en-US" sz="2000" dirty="0"/>
              <a:t>All the padding properties can have the following values: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length</a:t>
            </a:r>
            <a:r>
              <a:rPr lang="en-US" sz="2000" dirty="0"/>
              <a:t> - specifies a padding in px, </a:t>
            </a:r>
            <a:r>
              <a:rPr lang="en-US" sz="2000" dirty="0" err="1"/>
              <a:t>pt</a:t>
            </a:r>
            <a:r>
              <a:rPr lang="en-US" sz="2000" dirty="0"/>
              <a:t>, cm, etc.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%</a:t>
            </a:r>
            <a:r>
              <a:rPr lang="en-US" sz="2000" dirty="0"/>
              <a:t> - specifies a padding in % of the width of the containing element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inherit</a:t>
            </a:r>
            <a:r>
              <a:rPr lang="en-US" sz="2000" dirty="0"/>
              <a:t> - specifies that the padding should be inherited from the parent element</a:t>
            </a:r>
          </a:p>
        </p:txBody>
      </p:sp>
    </p:spTree>
    <p:extLst>
      <p:ext uri="{BB962C8B-B14F-4D97-AF65-F5344CB8AC3E}">
        <p14:creationId xmlns:p14="http://schemas.microsoft.com/office/powerpoint/2010/main" val="234564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2" y="595100"/>
            <a:ext cx="321669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351692" y="1126091"/>
            <a:ext cx="787928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div {</a:t>
            </a:r>
          </a:p>
          <a:p>
            <a:r>
              <a:rPr lang="en-US" sz="1600" dirty="0"/>
              <a:t>  border: 1px solid black;</a:t>
            </a:r>
          </a:p>
          <a:p>
            <a:r>
              <a:rPr lang="en-US" sz="1600" dirty="0"/>
              <a:t>  background-color: </a:t>
            </a:r>
            <a:r>
              <a:rPr lang="en-US" sz="1600" dirty="0" err="1"/>
              <a:t>lightblue</a:t>
            </a:r>
            <a:r>
              <a:rPr lang="en-US" sz="1600" dirty="0"/>
              <a:t>;</a:t>
            </a:r>
          </a:p>
          <a:p>
            <a:r>
              <a:rPr lang="en-US" sz="1600" dirty="0"/>
              <a:t>  padding-top: 50px;</a:t>
            </a:r>
          </a:p>
          <a:p>
            <a:r>
              <a:rPr lang="en-US" sz="1600" dirty="0"/>
              <a:t>  padding-right: 30px;</a:t>
            </a:r>
          </a:p>
          <a:p>
            <a:r>
              <a:rPr lang="en-US" sz="1600" dirty="0"/>
              <a:t>  padding-bottom: 50px;</a:t>
            </a:r>
          </a:p>
          <a:p>
            <a:r>
              <a:rPr lang="en-US" sz="1600" dirty="0"/>
              <a:t>  padding-left: 80px;</a:t>
            </a:r>
          </a:p>
          <a:p>
            <a:r>
              <a:rPr lang="en-US" sz="1600" dirty="0"/>
              <a:t>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34E62D81-5AF9-43D0-92BD-528157E03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64" y="3769702"/>
            <a:ext cx="7874872" cy="178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39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Height and Width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4CDF8BE-CA8F-4FF0-B77E-75D90EEC731D}"/>
              </a:ext>
            </a:extLst>
          </p:cNvPr>
          <p:cNvSpPr/>
          <p:nvPr/>
        </p:nvSpPr>
        <p:spPr>
          <a:xfrm>
            <a:off x="476205" y="2027170"/>
            <a:ext cx="8372373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height</a:t>
            </a:r>
            <a:r>
              <a:rPr lang="en-US" sz="2400" dirty="0"/>
              <a:t> and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width</a:t>
            </a:r>
            <a:r>
              <a:rPr lang="en-US" sz="2400" dirty="0"/>
              <a:t> properties are used to set the height and width of an element.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height and width properties do not include padding, borders, or margins. It sets the height/width of the area inside the padding, border, and margin of the element.</a:t>
            </a:r>
          </a:p>
          <a:p>
            <a:r>
              <a:rPr lang="en-US" sz="2400" dirty="0"/>
              <a:t>The height and width properties may have the following values: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auto</a:t>
            </a:r>
            <a:r>
              <a:rPr lang="en-US" sz="2400" dirty="0"/>
              <a:t> - This is default. The browser calculates the height and width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length</a:t>
            </a:r>
            <a:r>
              <a:rPr lang="en-US" sz="2400" dirty="0"/>
              <a:t> - Defines the height/width in px, cm etc.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%</a:t>
            </a:r>
            <a:r>
              <a:rPr lang="en-US" sz="2400" dirty="0"/>
              <a:t> - Defines the height/width in percent of the containing block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initial</a:t>
            </a:r>
            <a:r>
              <a:rPr lang="en-US" sz="2400" dirty="0"/>
              <a:t> - Sets the height/width to its default value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inherit</a:t>
            </a:r>
            <a:r>
              <a:rPr lang="en-US" sz="2400" dirty="0"/>
              <a:t> - The height/width will be inherited from its parent value</a:t>
            </a:r>
          </a:p>
        </p:txBody>
      </p:sp>
    </p:spTree>
    <p:extLst>
      <p:ext uri="{BB962C8B-B14F-4D97-AF65-F5344CB8AC3E}">
        <p14:creationId xmlns:p14="http://schemas.microsoft.com/office/powerpoint/2010/main" val="3599766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External CSS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389091" y="1257327"/>
            <a:ext cx="78792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div {</a:t>
            </a:r>
            <a:br>
              <a:rPr lang="en-US" dirty="0"/>
            </a:br>
            <a:r>
              <a:rPr lang="en-US" dirty="0"/>
              <a:t>  height: 200px;</a:t>
            </a:r>
            <a:br>
              <a:rPr lang="en-US" dirty="0"/>
            </a:br>
            <a:r>
              <a:rPr lang="en-US" dirty="0"/>
              <a:t>  width: 50%;</a:t>
            </a:r>
            <a:br>
              <a:rPr lang="en-US" dirty="0"/>
            </a:br>
            <a:r>
              <a:rPr lang="en-US" dirty="0"/>
              <a:t>  background-color: </a:t>
            </a:r>
            <a:r>
              <a:rPr lang="en-US" dirty="0" err="1"/>
              <a:t>powderblue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C58C4EF-E09C-40EB-A352-7BB29D8C9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00" y="3807288"/>
            <a:ext cx="429577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249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External CSS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389091" y="1257327"/>
            <a:ext cx="787928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 external style sheet can be written with a .</a:t>
            </a:r>
            <a:r>
              <a:rPr lang="en-US" sz="2400" dirty="0" err="1"/>
              <a:t>css</a:t>
            </a:r>
            <a:r>
              <a:rPr lang="en-US" sz="2400" dirty="0"/>
              <a:t> extension.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external .</a:t>
            </a:r>
            <a:r>
              <a:rPr lang="en-US" sz="2400" dirty="0" err="1"/>
              <a:t>css</a:t>
            </a:r>
            <a:r>
              <a:rPr lang="en-US" sz="2400" dirty="0"/>
              <a:t> file should not contain any HTML tags.</a:t>
            </a:r>
          </a:p>
          <a:p>
            <a:endParaRPr lang="en-US" dirty="0"/>
          </a:p>
          <a:p>
            <a:r>
              <a:rPr lang="en-US" sz="2400" b="1" dirty="0"/>
              <a:t>"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mystyle.css</a:t>
            </a:r>
            <a:r>
              <a:rPr lang="en-US" sz="2400" b="1" dirty="0"/>
              <a:t>“</a:t>
            </a:r>
          </a:p>
          <a:p>
            <a:endParaRPr lang="en-US" sz="2400" b="1" dirty="0"/>
          </a:p>
          <a:p>
            <a:r>
              <a:rPr lang="en-US" dirty="0"/>
              <a:t>body {</a:t>
            </a:r>
            <a:br>
              <a:rPr lang="en-US" dirty="0"/>
            </a:br>
            <a:r>
              <a:rPr lang="en-US" dirty="0"/>
              <a:t>  background-color: </a:t>
            </a:r>
            <a:r>
              <a:rPr lang="en-US" dirty="0" err="1"/>
              <a:t>lightblue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h1 {</a:t>
            </a:r>
            <a:br>
              <a:rPr lang="en-US" dirty="0"/>
            </a:br>
            <a:r>
              <a:rPr lang="en-US" dirty="0"/>
              <a:t>  color: navy;</a:t>
            </a:r>
            <a:br>
              <a:rPr lang="en-US" dirty="0"/>
            </a:br>
            <a:r>
              <a:rPr lang="en-US" dirty="0"/>
              <a:t>  margin-left: 20px;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3705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251843" y="1743399"/>
            <a:ext cx="86403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MySQL - </a:t>
            </a:r>
            <a:r>
              <a:rPr lang="en-US" sz="2800" dirty="0">
                <a:hlinkClick r:id="rId2"/>
              </a:rPr>
              <a:t>www.mysql.com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W3Schools Online Web Tutorials- </a:t>
            </a:r>
            <a:r>
              <a:rPr lang="en-US" sz="2800" dirty="0">
                <a:hlinkClick r:id="rId3"/>
              </a:rPr>
              <a:t>www.w3schools.com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PHP Manual - </a:t>
            </a:r>
            <a:r>
              <a:rPr lang="en-US" sz="2800" dirty="0">
                <a:hlinkClick r:id="rId4"/>
              </a:rPr>
              <a:t>www.php.net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2944A7F-5AE5-EC49-82AF-722C8C8F62C6}"/>
              </a:ext>
            </a:extLst>
          </p:cNvPr>
          <p:cNvSpPr txBox="1"/>
          <p:nvPr/>
        </p:nvSpPr>
        <p:spPr>
          <a:xfrm>
            <a:off x="365759" y="1605903"/>
            <a:ext cx="84124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Sams</a:t>
            </a:r>
            <a:r>
              <a:rPr lang="en-US" sz="2400" dirty="0"/>
              <a:t> Teach Yourself Ajax JavaScript and PHP All in One; Phil Ballard and Michael Moncur;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Sams</a:t>
            </a:r>
            <a:r>
              <a:rPr lang="en-US" sz="2400" dirty="0"/>
              <a:t> Publishing; 2010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JavaScript Phrasebook; Christian Wenz; </a:t>
            </a:r>
            <a:r>
              <a:rPr lang="en-US" sz="2400" dirty="0" err="1"/>
              <a:t>Sams</a:t>
            </a:r>
            <a:r>
              <a:rPr lang="en-US" sz="2400" dirty="0"/>
              <a:t> Publishing; 2007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PHP and MySQL Web Development, 4/E; Luke Welling and Laura Thomson; </a:t>
            </a:r>
            <a:r>
              <a:rPr lang="en-US" sz="2400" dirty="0" err="1"/>
              <a:t>AddisonWesley</a:t>
            </a:r>
            <a:r>
              <a:rPr lang="en-US" sz="2400" dirty="0"/>
              <a:t> Professional; 2009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JavaScript for Programmers Paul J. </a:t>
            </a:r>
            <a:r>
              <a:rPr lang="en-US" sz="2400" dirty="0" err="1"/>
              <a:t>Deitel</a:t>
            </a:r>
            <a:r>
              <a:rPr lang="en-US" sz="2400" dirty="0"/>
              <a:t> and Harvey M. </a:t>
            </a:r>
            <a:r>
              <a:rPr lang="en-US" sz="2400" dirty="0" err="1"/>
              <a:t>Deitel</a:t>
            </a:r>
            <a:r>
              <a:rPr lang="en-US" sz="2400" dirty="0"/>
              <a:t>; Prentice Hall; 2009</a:t>
            </a:r>
            <a:endParaRPr lang="x-none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0" ma:contentTypeDescription="Create a new document." ma:contentTypeScope="" ma:versionID="4ee3c3012e66d01170a3114f1b2e717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C64531-DC29-40DB-9716-74D506BEA077}"/>
</file>

<file path=customXml/itemProps2.xml><?xml version="1.0" encoding="utf-8"?>
<ds:datastoreItem xmlns:ds="http://schemas.openxmlformats.org/officeDocument/2006/customXml" ds:itemID="{AEB39AF3-A107-409F-9928-3B1D298527AE}"/>
</file>

<file path=customXml/itemProps3.xml><?xml version="1.0" encoding="utf-8"?>
<ds:datastoreItem xmlns:ds="http://schemas.openxmlformats.org/officeDocument/2006/customXml" ds:itemID="{ABC14B34-86A8-44E8-AF74-C5045732F93A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4570</TotalTime>
  <Words>709</Words>
  <Application>Microsoft Office PowerPoint</Application>
  <PresentationFormat>On-screen Show (4:3)</PresentationFormat>
  <Paragraphs>125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Consolas</vt:lpstr>
      <vt:lpstr>Corbel</vt:lpstr>
      <vt:lpstr>Segoe UI</vt:lpstr>
      <vt:lpstr>Wingdings</vt:lpstr>
      <vt:lpstr>Spectrum</vt:lpstr>
      <vt:lpstr>Introduction to CSS</vt:lpstr>
      <vt:lpstr>Lecture Outline</vt:lpstr>
      <vt:lpstr>CSS Borders</vt:lpstr>
      <vt:lpstr>PowerPoint Presentation</vt:lpstr>
      <vt:lpstr>PowerPoint Presentation</vt:lpstr>
      <vt:lpstr>CSS Margins</vt:lpstr>
      <vt:lpstr>PowerPoint Presentation</vt:lpstr>
      <vt:lpstr>CSS Padding</vt:lpstr>
      <vt:lpstr>PowerPoint Presentation</vt:lpstr>
      <vt:lpstr>CSS Height and Width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Nabil</cp:lastModifiedBy>
  <cp:revision>333</cp:revision>
  <dcterms:created xsi:type="dcterms:W3CDTF">2018-12-10T17:20:29Z</dcterms:created>
  <dcterms:modified xsi:type="dcterms:W3CDTF">2020-06-30T13:18:40Z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