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2" r:id="rId9"/>
    <p:sldId id="273" r:id="rId10"/>
    <p:sldId id="274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input_types.asp" TargetMode="Externa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input_types.asp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p.net/docs.php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US/docs/Web/HTTP/Status" TargetMode="External"/><Relationship Id="rId2" Type="http://schemas.openxmlformats.org/officeDocument/2006/relationships/hyperlink" Target="https://www.ntu.edu.sg/home/ehchua/programming/webprogramming/HTTP_Basics.html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www.w3schools.com/html/html_xhtml.asp" TargetMode="External"/><Relationship Id="rId4" Type="http://schemas.openxmlformats.org/officeDocument/2006/relationships/hyperlink" Target="https://www.w3schools.com/html/html_intro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Web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 dirty="0"/>
              <a:t>CSC 3222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60839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08934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96412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941184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S M Abdullah Shafi &lt;shafi@aiub.edu&gt;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142309"/>
            <a:ext cx="7754112" cy="394498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Learning 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HTML Tags and Elements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600" b="1" dirty="0">
                <a:solidFill>
                  <a:schemeClr val="tx1"/>
                </a:solidFill>
              </a:rPr>
              <a:t>HTML Attributes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HTML Forms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HTML Forms Example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HTML Form Elements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HTML Input Types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Books and References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2800" b="1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8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this Lab, we will learn about HTML document, HTML </a:t>
            </a:r>
            <a:r>
              <a:rPr lang="en-US" sz="2800" dirty="0"/>
              <a:t>Tags, Elements and Attributes.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write html, we need a text editor; e.g. sublime text or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Vscode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or any editor and web browser.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Design and develop HTML document; e.g. html page, html form, etc.</a:t>
            </a:r>
            <a:endParaRPr lang="en-US" altLang="en-US" dirty="0"/>
          </a:p>
          <a:p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Tags and Elements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An HTML element usually consists of a </a:t>
            </a:r>
            <a:r>
              <a:rPr lang="en-US" sz="2800" b="1" dirty="0"/>
              <a:t>start</a:t>
            </a:r>
            <a:r>
              <a:rPr lang="en-US" sz="2800" dirty="0"/>
              <a:t> tag and an </a:t>
            </a:r>
            <a:r>
              <a:rPr lang="en-US" sz="2800" b="1" dirty="0"/>
              <a:t>end</a:t>
            </a:r>
            <a:r>
              <a:rPr lang="en-US" sz="2800" dirty="0"/>
              <a:t> tag, with the content inserted in between.</a:t>
            </a:r>
            <a:endParaRPr lang="en-US" altLang="en-US" dirty="0"/>
          </a:p>
          <a:p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091092"/>
              </p:ext>
            </p:extLst>
          </p:nvPr>
        </p:nvGraphicFramePr>
        <p:xfrm>
          <a:off x="945152" y="4158988"/>
          <a:ext cx="7077075" cy="1449384"/>
        </p:xfrm>
        <a:graphic>
          <a:graphicData uri="http://schemas.openxmlformats.org/drawingml/2006/table">
            <a:tbl>
              <a:tblPr/>
              <a:tblGrid>
                <a:gridCol w="235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Start tag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Element content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End tag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&lt;h1&gt;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My First Heading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&lt;/h1&gt;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&lt;p&gt;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My first paragraph.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&lt;/p&gt;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&lt;br&gt;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 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 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20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 Attributes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All HTML elements can have attributes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Attributes provide additional information about an element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Attributes are always specified in the start tag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Attributes usually come in name/value pairs like: name="value“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Example : HTML links are defined with the &lt;a&gt; tag. The link address is specified in the </a:t>
            </a:r>
            <a:r>
              <a:rPr lang="en-US" dirty="0" err="1"/>
              <a:t>href</a:t>
            </a:r>
            <a:r>
              <a:rPr lang="en-US" dirty="0"/>
              <a:t> attribute.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a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Consolas"/>
              </a:rPr>
              <a:t>href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="https://www.aiub.edu"&gt;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AIUB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/a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/>
              </a:rPr>
              <a:t>img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Consolas"/>
              </a:rPr>
              <a:t>src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="img_girl.jpg"&gt;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Please explore all Elements/ Tags/ attributes from </a:t>
            </a:r>
            <a:r>
              <a:rPr lang="en-US" dirty="0">
                <a:hlinkClick r:id="rId2"/>
              </a:rPr>
              <a:t>https://www.w3schools.com/</a:t>
            </a:r>
            <a:r>
              <a:rPr lang="en-US" dirty="0"/>
              <a:t> one by one.</a:t>
            </a:r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264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 Forms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HTML &lt;form&gt; element defines a form that is used to collect user input.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form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dirty="0"/>
            </a:br>
            <a:r>
              <a:rPr lang="en-US" i="1" dirty="0">
                <a:solidFill>
                  <a:srgbClr val="000000"/>
                </a:solidFill>
                <a:latin typeface="Consolas"/>
              </a:rPr>
              <a:t>form elements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/form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Form elements are different types of input elements, like: text fields, checkboxes, radio buttons, submit buttons, and more.</a:t>
            </a:r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067674"/>
              </p:ext>
            </p:extLst>
          </p:nvPr>
        </p:nvGraphicFramePr>
        <p:xfrm>
          <a:off x="783772" y="4190223"/>
          <a:ext cx="7077074" cy="1915258"/>
        </p:xfrm>
        <a:graphic>
          <a:graphicData uri="http://schemas.openxmlformats.org/drawingml/2006/table">
            <a:tbl>
              <a:tblPr/>
              <a:tblGrid>
                <a:gridCol w="353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Type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type="text"&gt;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Defines a single-line text input field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type="radio"&gt;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Defines a radio button (for selecting one of many choices)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type="submit"&gt;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Defines a submit button (for submitting the form)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562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Forms Example</a:t>
            </a:r>
          </a:p>
        </p:txBody>
      </p:sp>
      <p:pic>
        <p:nvPicPr>
          <p:cNvPr id="4098" name="Picture 2" descr="E:\Spring 2019-2020\Web Tech\Silde Web Tech\Back Up\HTML For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77" y="3536701"/>
            <a:ext cx="3448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487894" y="1654269"/>
            <a:ext cx="7950712" cy="1415501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form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label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for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fname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"&gt;</a:t>
            </a:r>
            <a:r>
              <a:rPr lang="en-US" sz="2800" dirty="0">
                <a:solidFill>
                  <a:srgbClr val="000000"/>
                </a:solidFill>
                <a:latin typeface="Consolas"/>
              </a:rPr>
              <a:t>First name: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/label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&gt;&lt;</a:t>
            </a:r>
            <a:r>
              <a:rPr lang="en-US" sz="2800" dirty="0" err="1">
                <a:solidFill>
                  <a:srgbClr val="A52A2A"/>
                </a:solidFill>
                <a:latin typeface="Consolas"/>
              </a:rPr>
              <a:t>br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input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type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="text"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id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fname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fname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"&gt;&lt;</a:t>
            </a:r>
            <a:r>
              <a:rPr lang="en-US" sz="2800" dirty="0" err="1">
                <a:solidFill>
                  <a:srgbClr val="A52A2A"/>
                </a:solidFill>
                <a:latin typeface="Consolas"/>
              </a:rPr>
              <a:t>br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label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for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lname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"&gt;</a:t>
            </a:r>
            <a:r>
              <a:rPr lang="en-US" sz="2800" dirty="0">
                <a:solidFill>
                  <a:srgbClr val="000000"/>
                </a:solidFill>
                <a:latin typeface="Consolas"/>
              </a:rPr>
              <a:t>Last name: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/label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&gt;&lt;</a:t>
            </a:r>
            <a:r>
              <a:rPr lang="en-US" sz="2800" dirty="0" err="1">
                <a:solidFill>
                  <a:srgbClr val="A52A2A"/>
                </a:solidFill>
                <a:latin typeface="Consolas"/>
              </a:rPr>
              <a:t>br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input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type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="text"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id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lname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lname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"&gt;</a:t>
            </a:r>
            <a:br>
              <a:rPr lang="en-US" sz="2800" dirty="0"/>
            </a:b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/form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endParaRPr lang="en-US" sz="2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556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40080" y="1482308"/>
            <a:ext cx="79160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&lt;input&gt; Element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input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type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="text"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id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dirty="0" err="1">
                <a:solidFill>
                  <a:srgbClr val="0000CD"/>
                </a:solidFill>
                <a:latin typeface="Consolas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"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name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dirty="0" err="1">
                <a:solidFill>
                  <a:srgbClr val="0000CD"/>
                </a:solidFill>
                <a:latin typeface="Consolas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"&gt;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&lt;</a:t>
            </a:r>
            <a:r>
              <a:rPr lang="en-US" dirty="0" err="1"/>
              <a:t>textarea</a:t>
            </a:r>
            <a:r>
              <a:rPr lang="en-US" dirty="0"/>
              <a:t>&gt; Element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/>
              </a:rPr>
              <a:t>textarea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name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="message"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rows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="10"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cols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="30"&gt;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The cat was playing in the garden.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/>
              </a:rPr>
              <a:t>textarea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nsolas"/>
              </a:rPr>
              <a:t>See more input type </a:t>
            </a:r>
            <a:r>
              <a:rPr lang="en-US" dirty="0">
                <a:hlinkClick r:id="rId2"/>
              </a:rPr>
              <a:t>https://www.w3schools.com/html/html_form_input_types.asp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327153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 Input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40080" y="1482308"/>
            <a:ext cx="79160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Here are the different input types you can use in HTML:</a:t>
            </a:r>
            <a:endParaRPr lang="en-US" dirty="0">
              <a:latin typeface="Consolas"/>
            </a:endParaRPr>
          </a:p>
          <a:p>
            <a:r>
              <a:rPr lang="en-US" dirty="0"/>
              <a:t>&lt;input type="button"&gt;</a:t>
            </a:r>
          </a:p>
          <a:p>
            <a:r>
              <a:rPr lang="en-US" dirty="0"/>
              <a:t>&lt;input type="checkbox"&gt;</a:t>
            </a:r>
          </a:p>
          <a:p>
            <a:r>
              <a:rPr lang="en-US" dirty="0"/>
              <a:t>&lt;input type="email"&gt;</a:t>
            </a:r>
          </a:p>
          <a:p>
            <a:r>
              <a:rPr lang="en-US" dirty="0"/>
              <a:t>&lt;input type="file"&gt;</a:t>
            </a:r>
          </a:p>
          <a:p>
            <a:r>
              <a:rPr lang="en-US" dirty="0"/>
              <a:t>&lt;input type="hidden"&gt;</a:t>
            </a:r>
          </a:p>
          <a:p>
            <a:r>
              <a:rPr lang="en-US" dirty="0"/>
              <a:t>&lt;input type="image"&gt;</a:t>
            </a:r>
          </a:p>
          <a:p>
            <a:r>
              <a:rPr lang="en-US" dirty="0"/>
              <a:t>&lt;input type="month"&gt;</a:t>
            </a:r>
          </a:p>
          <a:p>
            <a:r>
              <a:rPr lang="en-US" dirty="0"/>
              <a:t>&lt;input type="number"&gt;</a:t>
            </a:r>
          </a:p>
          <a:p>
            <a:r>
              <a:rPr lang="en-US" dirty="0"/>
              <a:t>&lt;input type="password"&gt;</a:t>
            </a:r>
          </a:p>
          <a:p>
            <a:r>
              <a:rPr lang="en-US" dirty="0"/>
              <a:t>&lt;input type="radio"&gt;</a:t>
            </a:r>
          </a:p>
          <a:p>
            <a:r>
              <a:rPr lang="en-US" dirty="0"/>
              <a:t>&lt;input type="range"&gt;</a:t>
            </a:r>
          </a:p>
          <a:p>
            <a:endParaRPr lang="en-US" dirty="0">
              <a:latin typeface="Consolas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nsolas"/>
              </a:rPr>
              <a:t>See more input type </a:t>
            </a:r>
            <a:r>
              <a:rPr lang="en-US" dirty="0">
                <a:hlinkClick r:id="rId2"/>
              </a:rPr>
              <a:t>https://www.w3schools.com/html/html_form_input_types.asp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9730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Your Task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40080" y="1482308"/>
            <a:ext cx="79160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Write necessary HTML script to achieve the below-given layout of a “Registration Page”.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Design a static personal web site including all your information.</a:t>
            </a:r>
            <a:endParaRPr lang="x-none" sz="2800" dirty="0"/>
          </a:p>
        </p:txBody>
      </p:sp>
    </p:spTree>
    <p:extLst>
      <p:ext uri="{BB962C8B-B14F-4D97-AF65-F5344CB8AC3E}">
        <p14:creationId xmlns:p14="http://schemas.microsoft.com/office/powerpoint/2010/main" val="3785100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496388" y="1415086"/>
            <a:ext cx="81773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W3Schools Online Web Tutorials; URL: </a:t>
            </a:r>
            <a:r>
              <a:rPr lang="en-US" sz="2000" b="1" u="sng" dirty="0">
                <a:hlinkClick r:id="rId2"/>
              </a:rPr>
              <a:t>http://www.w3schools.com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Documentation; URL: </a:t>
            </a:r>
            <a:r>
              <a:rPr lang="en-US" sz="2000" b="1" u="sng" dirty="0">
                <a:hlinkClick r:id="rId3"/>
              </a:rPr>
              <a:t>http://www.php.net/docs.php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/>
              <a:t>Sams</a:t>
            </a:r>
            <a:r>
              <a:rPr lang="en-US" sz="2000" b="1" dirty="0"/>
              <a:t> Teach Yourself Ajax JavaScript and PHP All in One; Phil Ballard and Michael </a:t>
            </a:r>
            <a:r>
              <a:rPr lang="en-US" sz="2000" b="1" dirty="0" err="1"/>
              <a:t>Moncur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2010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Phrasebook; Christian </a:t>
            </a:r>
            <a:r>
              <a:rPr lang="en-US" sz="2000" b="1" dirty="0" err="1"/>
              <a:t>Wenz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2007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and MySQL Web Development, 4/E; Luke Welling and Laura Thomson; Addison-Wesley Professional;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for Programmers Paul J. </a:t>
            </a:r>
            <a:r>
              <a:rPr lang="en-US" sz="2000" b="1" dirty="0" err="1"/>
              <a:t>Deitel</a:t>
            </a:r>
            <a:r>
              <a:rPr lang="en-US" sz="2000" b="1" dirty="0"/>
              <a:t> and Harvey M. </a:t>
            </a:r>
            <a:r>
              <a:rPr lang="en-US" sz="2000" b="1" dirty="0" err="1"/>
              <a:t>Deitel</a:t>
            </a:r>
            <a:r>
              <a:rPr lang="en-US" sz="2000" b="1" dirty="0"/>
              <a:t>; Prentice Hall;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Beginning PHP5, Apache, and MySQL Web Development; Elizabeth </a:t>
            </a:r>
            <a:r>
              <a:rPr lang="en-US" sz="2000" b="1" dirty="0" err="1"/>
              <a:t>Naramore</a:t>
            </a:r>
            <a:r>
              <a:rPr lang="en-US" sz="2000" b="1" dirty="0"/>
              <a:t>, Jason </a:t>
            </a:r>
            <a:r>
              <a:rPr lang="en-US" sz="2000" b="1" dirty="0" err="1"/>
              <a:t>Gerner</a:t>
            </a:r>
            <a:r>
              <a:rPr lang="en-US" sz="2000" b="1" dirty="0"/>
              <a:t>, </a:t>
            </a:r>
            <a:r>
              <a:rPr lang="en-US" sz="2000" b="1" dirty="0" err="1"/>
              <a:t>Yann</a:t>
            </a:r>
            <a:r>
              <a:rPr lang="en-US" sz="2000" b="1" dirty="0"/>
              <a:t> Le </a:t>
            </a:r>
            <a:r>
              <a:rPr lang="en-US" sz="2000" b="1" dirty="0" err="1"/>
              <a:t>Scouarnec</a:t>
            </a:r>
            <a:r>
              <a:rPr lang="en-US" sz="2000" b="1" dirty="0"/>
              <a:t>, Jeremy </a:t>
            </a:r>
            <a:r>
              <a:rPr lang="en-US" sz="2000" b="1" dirty="0" err="1"/>
              <a:t>Stolz</a:t>
            </a:r>
            <a:r>
              <a:rPr lang="en-US" sz="2000" b="1" dirty="0"/>
              <a:t> and Michael K. Glass; Wiley Publishing; 2005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XML in a Nutshell, 3/E; </a:t>
            </a:r>
            <a:r>
              <a:rPr lang="en-US" sz="2000" b="1" dirty="0" err="1"/>
              <a:t>Elliotte</a:t>
            </a:r>
            <a:r>
              <a:rPr lang="en-US" sz="2000" b="1" dirty="0"/>
              <a:t> Rusty Harold and W. Scott Means; O'Reilly Media; 2004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77201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en-US" dirty="0">
                <a:hlinkClick r:id="rId2"/>
              </a:rPr>
              <a:t>https://www.ntu.edu.sg/home/ehchua/programming/webprogramming/HTTP_Basics.html</a:t>
            </a:r>
            <a:endParaRPr lang="en-US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https://developer.mozilla.org/enUS/docs/Web/HTTP/Status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4"/>
              </a:rPr>
              <a:t>https://www.w3schools.com/html/html_intro.asp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hlinkClick r:id="rId5"/>
              </a:rPr>
              <a:t>https://www.w3schools.com/html/html_xhtml.asp</a:t>
            </a:r>
            <a:br>
              <a:rPr 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0" ma:contentTypeDescription="Create a new document." ma:contentTypeScope="" ma:versionID="4ee3c3012e66d01170a3114f1b2e71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82EB476-0C47-4C2F-A09F-816DD09E87AD}"/>
</file>

<file path=customXml/itemProps2.xml><?xml version="1.0" encoding="utf-8"?>
<ds:datastoreItem xmlns:ds="http://schemas.openxmlformats.org/officeDocument/2006/customXml" ds:itemID="{0C21D4E6-D60B-4942-8EAD-3834F4741329}"/>
</file>

<file path=customXml/itemProps3.xml><?xml version="1.0" encoding="utf-8"?>
<ds:datastoreItem xmlns:ds="http://schemas.openxmlformats.org/officeDocument/2006/customXml" ds:itemID="{0902D31F-FCE8-4B52-8738-BD7DB0813B50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915</TotalTime>
  <Words>912</Words>
  <Application>Microsoft Office PowerPoint</Application>
  <PresentationFormat>On-screen Show (4:3)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Introduction to Web Technology</vt:lpstr>
      <vt:lpstr>Lecture Outline</vt:lpstr>
      <vt:lpstr>Learning Objectives</vt:lpstr>
      <vt:lpstr>HTML Tags and Elements</vt:lpstr>
      <vt:lpstr>HTML Attributes</vt:lpstr>
      <vt:lpstr>HTML Forms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 M Abdullah Shafi</cp:lastModifiedBy>
  <cp:revision>62</cp:revision>
  <dcterms:created xsi:type="dcterms:W3CDTF">2018-12-10T17:20:29Z</dcterms:created>
  <dcterms:modified xsi:type="dcterms:W3CDTF">2023-09-17T02:11:08Z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